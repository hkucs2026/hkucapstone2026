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24384000" cy="13716000"/>
  <p:notesSz cx="13716000" cy="24384000"/>
  <p:embeddedFontLst>
    <p:embeddedFont>
      <p:font typeface="微软雅黑" panose="020B0503020204020204" pitchFamily="34" charset="-122"/>
      <p:regular r:id="rId22"/>
      <p:bold r:id="rId23"/>
    </p:embeddedFont>
    <p:embeddedFont>
      <p:font typeface="Coda" panose="020B0604020202020204" charset="0"/>
      <p:regular r:id="rId24"/>
    </p:embeddedFont>
    <p:embeddedFont>
      <p:font typeface="Quattrocento Sans" panose="020B05020500000200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AD0EB-F9D8-4029-9C90-5E0DBF0648BE}" v="1" dt="2026-06-17T11:30:0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3641218@connect.hku.hk" userId="e5b1c6f4-9ed3-4682-b4aa-b20be6818d74" providerId="ADAL" clId="{2CB5EF81-E0A8-45DB-91B1-2D35E27E2281}"/>
    <pc:docChg chg="undo custSel modSld">
      <pc:chgData name="u3641218@connect.hku.hk" userId="e5b1c6f4-9ed3-4682-b4aa-b20be6818d74" providerId="ADAL" clId="{2CB5EF81-E0A8-45DB-91B1-2D35E27E2281}" dt="2026-06-02T02:44:43.871" v="33" actId="1076"/>
      <pc:docMkLst>
        <pc:docMk/>
      </pc:docMkLst>
      <pc:sldChg chg="addSp delSp modSp mod">
        <pc:chgData name="u3641218@connect.hku.hk" userId="e5b1c6f4-9ed3-4682-b4aa-b20be6818d74" providerId="ADAL" clId="{2CB5EF81-E0A8-45DB-91B1-2D35E27E2281}" dt="2026-06-02T02:44:43.871" v="33" actId="1076"/>
        <pc:sldMkLst>
          <pc:docMk/>
          <pc:sldMk cId="0" sldId="256"/>
        </pc:sldMkLst>
        <pc:picChg chg="add mod">
          <ac:chgData name="u3641218@connect.hku.hk" userId="e5b1c6f4-9ed3-4682-b4aa-b20be6818d74" providerId="ADAL" clId="{2CB5EF81-E0A8-45DB-91B1-2D35E27E2281}" dt="2026-06-02T02:44:43.871" v="33" actId="1076"/>
          <ac:picMkLst>
            <pc:docMk/>
            <pc:sldMk cId="0" sldId="256"/>
            <ac:picMk id="12" creationId="{D10BC2C7-3C37-1985-FC2C-E1BF77F31140}"/>
          </ac:picMkLst>
        </pc:picChg>
      </pc:sldChg>
      <pc:sldChg chg="addSp modSp mod">
        <pc:chgData name="u3641218@connect.hku.hk" userId="e5b1c6f4-9ed3-4682-b4aa-b20be6818d74" providerId="ADAL" clId="{2CB5EF81-E0A8-45DB-91B1-2D35E27E2281}" dt="2026-06-02T02:44:37.028" v="31" actId="1076"/>
        <pc:sldMkLst>
          <pc:docMk/>
          <pc:sldMk cId="0" sldId="257"/>
        </pc:sldMkLst>
      </pc:sldChg>
      <pc:sldChg chg="modSp mod">
        <pc:chgData name="u3641218@connect.hku.hk" userId="e5b1c6f4-9ed3-4682-b4aa-b20be6818d74" providerId="ADAL" clId="{2CB5EF81-E0A8-45DB-91B1-2D35E27E2281}" dt="2026-06-02T02:41:35.420" v="19" actId="1036"/>
        <pc:sldMkLst>
          <pc:docMk/>
          <pc:sldMk cId="0" sldId="266"/>
        </pc:sldMkLst>
        <pc:spChg chg="mod">
          <ac:chgData name="u3641218@connect.hku.hk" userId="e5b1c6f4-9ed3-4682-b4aa-b20be6818d74" providerId="ADAL" clId="{2CB5EF81-E0A8-45DB-91B1-2D35E27E2281}" dt="2026-06-02T02:41:35.420" v="19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u3641218@connect.hku.hk" userId="e5b1c6f4-9ed3-4682-b4aa-b20be6818d74" providerId="ADAL" clId="{2CB5EF81-E0A8-45DB-91B1-2D35E27E2281}" dt="2026-06-02T02:41:35.420" v="19" actId="10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u3641218@connect.hku.hk" userId="e5b1c6f4-9ed3-4682-b4aa-b20be6818d74" providerId="ADAL" clId="{2CB5EF81-E0A8-45DB-91B1-2D35E27E2281}" dt="2026-06-02T02:41:24.852" v="0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u3641218@connect.hku.hk" userId="e5b1c6f4-9ed3-4682-b4aa-b20be6818d74" providerId="ADAL" clId="{2CB5EF81-E0A8-45DB-91B1-2D35E27E2281}" dt="2026-06-02T02:41:24.852" v="0" actId="1076"/>
          <ac:spMkLst>
            <pc:docMk/>
            <pc:sldMk cId="0" sldId="266"/>
            <ac:spMk id="23" creationId="{00000000-0000-0000-0000-000000000000}"/>
          </ac:spMkLst>
        </pc:spChg>
      </pc:sldChg>
    </pc:docChg>
  </pc:docChgLst>
  <pc:docChgLst>
    <pc:chgData name="u3641218@connect.hku.hk" userId="e5b1c6f4-9ed3-4682-b4aa-b20be6818d74" providerId="ADAL" clId="{28EE2C43-C5B7-4905-9DE2-C63685DA06D6}"/>
    <pc:docChg chg="modSld">
      <pc:chgData name="u3641218@connect.hku.hk" userId="e5b1c6f4-9ed3-4682-b4aa-b20be6818d74" providerId="ADAL" clId="{28EE2C43-C5B7-4905-9DE2-C63685DA06D6}" dt="2026-06-17T11:30:17.304" v="28" actId="20577"/>
      <pc:docMkLst>
        <pc:docMk/>
      </pc:docMkLst>
      <pc:sldChg chg="addSp modSp mod">
        <pc:chgData name="u3641218@connect.hku.hk" userId="e5b1c6f4-9ed3-4682-b4aa-b20be6818d74" providerId="ADAL" clId="{28EE2C43-C5B7-4905-9DE2-C63685DA06D6}" dt="2026-06-17T11:30:17.304" v="28" actId="20577"/>
        <pc:sldMkLst>
          <pc:docMk/>
          <pc:sldMk cId="0" sldId="266"/>
        </pc:sldMkLst>
        <pc:spChg chg="add mod">
          <ac:chgData name="u3641218@connect.hku.hk" userId="e5b1c6f4-9ed3-4682-b4aa-b20be6818d74" providerId="ADAL" clId="{28EE2C43-C5B7-4905-9DE2-C63685DA06D6}" dt="2026-06-17T11:30:17.304" v="28" actId="20577"/>
          <ac:spMkLst>
            <pc:docMk/>
            <pc:sldMk cId="0" sldId="266"/>
            <ac:spMk id="28" creationId="{BBB06DFF-A6D0-ADD7-6003-4D37639639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697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44600" y="3048000"/>
            <a:ext cx="1778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Uncle</a:t>
            </a:r>
            <a:r>
              <a:rPr lang="en-US" sz="12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Fix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244600" y="6858000"/>
            <a:ext cx="177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Multimodal AI-Based Mobile Application for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Household Maintenance Diagnostics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990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Interim Report | June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29500" y="8382000"/>
            <a:ext cx="2908300" cy="29083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0BC2C7-3C37-1985-FC2C-E1BF77F31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2618" y="2036109"/>
            <a:ext cx="5579782" cy="55797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3810000"/>
            <a:ext cx="1016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3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AGENDA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8900" y="6858000"/>
          <a:ext cx="21653500" cy="4826000"/>
        </p:xfrm>
        <a:graphic>
          <a:graphicData uri="http://schemas.openxmlformats.org/drawingml/2006/table">
            <a:tbl>
              <a:tblPr/>
              <a:tblGrid>
                <a:gridCol w="1082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6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 Introduction &amp; Background</a:t>
                      </a:r>
                      <a:endParaRPr lang="en-US" sz="2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 Project Overview</a:t>
                      </a:r>
                      <a:endParaRPr lang="en-US" sz="2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 System Architecture</a:t>
                      </a:r>
                      <a:endParaRPr lang="en-US" sz="2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 Results &amp; Progress</a:t>
                      </a:r>
                      <a:endParaRPr lang="en-US" sz="2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DAAC2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y6alfxtfywjs/mnt/agents/output/unclefix-report/images/2_1_798_Apartment_Complex_Hong_Kong.png"/>
          <p:cNvPicPr>
            <a:picLocks noChangeAspect="1"/>
          </p:cNvPicPr>
          <p:nvPr/>
        </p:nvPicPr>
        <p:blipFill>
          <a:blip r:embed="rId3"/>
          <a:srcRect t="10000" b="10000"/>
          <a:stretch/>
        </p:blipFill>
        <p:spPr>
          <a:xfrm>
            <a:off x="12661900" y="0"/>
            <a:ext cx="117221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1371600" y="138430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371600" y="1233805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674600" y="0"/>
            <a:ext cx="0" cy="1371600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4600" y="2794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4600" y="4064000"/>
            <a:ext cx="1079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INTRODUCTION &amp;</a:t>
            </a: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BACKGROUND</a:t>
            </a:r>
            <a:endParaRPr lang="en-US" sz="10000" dirty="0"/>
          </a:p>
        </p:txBody>
      </p:sp>
      <p:sp>
        <p:nvSpPr>
          <p:cNvPr id="8" name="Text 5"/>
          <p:cNvSpPr/>
          <p:nvPr/>
        </p:nvSpPr>
        <p:spPr>
          <a:xfrm>
            <a:off x="1244600" y="7874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household maintenance challenges in Hong Kong and the AI technologies that can address them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PROBLEM: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HK HOUSEHOLD MAINTENANCE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683000"/>
            <a:ext cx="6858000" cy="4191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92300" y="4000500"/>
            <a:ext cx="381000" cy="609600"/>
          </a:xfrm>
          <a:custGeom>
            <a:avLst/>
            <a:gdLst/>
            <a:ahLst/>
            <a:cxnLst/>
            <a:rect l="l" t="t" r="r" b="b"/>
            <a:pathLst>
              <a:path w="381000" h="609600">
                <a:moveTo>
                  <a:pt x="161925" y="28575"/>
                </a:moveTo>
                <a:cubicBezTo>
                  <a:pt x="161925" y="12740"/>
                  <a:pt x="174665" y="0"/>
                  <a:pt x="190500" y="0"/>
                </a:cubicBezTo>
                <a:cubicBezTo>
                  <a:pt x="206335" y="0"/>
                  <a:pt x="219075" y="12740"/>
                  <a:pt x="219075" y="28575"/>
                </a:cubicBezTo>
                <a:lnTo>
                  <a:pt x="219075" y="76200"/>
                </a:lnTo>
                <a:lnTo>
                  <a:pt x="285750" y="76200"/>
                </a:lnTo>
                <a:cubicBezTo>
                  <a:pt x="306824" y="76200"/>
                  <a:pt x="323850" y="93226"/>
                  <a:pt x="323850" y="114300"/>
                </a:cubicBezTo>
                <a:cubicBezTo>
                  <a:pt x="323850" y="135374"/>
                  <a:pt x="306824" y="152400"/>
                  <a:pt x="285750" y="152400"/>
                </a:cubicBezTo>
                <a:lnTo>
                  <a:pt x="148947" y="152400"/>
                </a:lnTo>
                <a:cubicBezTo>
                  <a:pt x="119301" y="152400"/>
                  <a:pt x="95250" y="176451"/>
                  <a:pt x="95250" y="206097"/>
                </a:cubicBezTo>
                <a:cubicBezTo>
                  <a:pt x="95250" y="232886"/>
                  <a:pt x="114895" y="255508"/>
                  <a:pt x="141327" y="259318"/>
                </a:cubicBezTo>
                <a:lnTo>
                  <a:pt x="250388" y="274915"/>
                </a:lnTo>
                <a:cubicBezTo>
                  <a:pt x="314444" y="284083"/>
                  <a:pt x="361950" y="338852"/>
                  <a:pt x="361950" y="403503"/>
                </a:cubicBezTo>
                <a:cubicBezTo>
                  <a:pt x="361950" y="475298"/>
                  <a:pt x="303728" y="533400"/>
                  <a:pt x="232053" y="533400"/>
                </a:cubicBezTo>
                <a:lnTo>
                  <a:pt x="219075" y="533400"/>
                </a:lnTo>
                <a:lnTo>
                  <a:pt x="219075" y="581025"/>
                </a:lnTo>
                <a:cubicBezTo>
                  <a:pt x="219075" y="596860"/>
                  <a:pt x="206335" y="609600"/>
                  <a:pt x="190500" y="609600"/>
                </a:cubicBezTo>
                <a:cubicBezTo>
                  <a:pt x="174665" y="609600"/>
                  <a:pt x="161925" y="596860"/>
                  <a:pt x="161925" y="581025"/>
                </a:cubicBezTo>
                <a:lnTo>
                  <a:pt x="161925" y="533400"/>
                </a:lnTo>
                <a:lnTo>
                  <a:pt x="76200" y="533400"/>
                </a:lnTo>
                <a:cubicBezTo>
                  <a:pt x="55126" y="533400"/>
                  <a:pt x="38100" y="516374"/>
                  <a:pt x="38100" y="495300"/>
                </a:cubicBezTo>
                <a:cubicBezTo>
                  <a:pt x="38100" y="474226"/>
                  <a:pt x="55126" y="457200"/>
                  <a:pt x="76200" y="457200"/>
                </a:cubicBezTo>
                <a:lnTo>
                  <a:pt x="232053" y="457200"/>
                </a:lnTo>
                <a:cubicBezTo>
                  <a:pt x="261699" y="457200"/>
                  <a:pt x="285750" y="433149"/>
                  <a:pt x="285750" y="403503"/>
                </a:cubicBezTo>
                <a:cubicBezTo>
                  <a:pt x="285750" y="376714"/>
                  <a:pt x="266105" y="354092"/>
                  <a:pt x="239673" y="350282"/>
                </a:cubicBezTo>
                <a:lnTo>
                  <a:pt x="130612" y="334685"/>
                </a:lnTo>
                <a:cubicBezTo>
                  <a:pt x="66556" y="325636"/>
                  <a:pt x="19050" y="270748"/>
                  <a:pt x="19050" y="206097"/>
                </a:cubicBezTo>
                <a:cubicBezTo>
                  <a:pt x="19050" y="134422"/>
                  <a:pt x="77272" y="76200"/>
                  <a:pt x="148947" y="76200"/>
                </a:cubicBezTo>
                <a:lnTo>
                  <a:pt x="161925" y="76200"/>
                </a:lnTo>
                <a:lnTo>
                  <a:pt x="161925" y="28575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78000" y="4762500"/>
            <a:ext cx="6045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Economic Barriers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78000" y="5397500"/>
            <a:ext cx="604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Inspection fees </a:t>
            </a: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HK$460-850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repairs begin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70,000 tonnes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e-waste annually in HK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1,800 tonnes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furniture discarded daily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763000" y="3683000"/>
            <a:ext cx="6858000" cy="4191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31300" y="4000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8816" y="-29647"/>
                </a:moveTo>
                <a:cubicBezTo>
                  <a:pt x="37624" y="-40838"/>
                  <a:pt x="19526" y="-40838"/>
                  <a:pt x="8453" y="-29647"/>
                </a:cubicBezTo>
                <a:cubicBezTo>
                  <a:pt x="-2619" y="-18455"/>
                  <a:pt x="-2738" y="-357"/>
                  <a:pt x="8334" y="10835"/>
                </a:cubicBezTo>
                <a:lnTo>
                  <a:pt x="636984" y="639485"/>
                </a:lnTo>
                <a:cubicBezTo>
                  <a:pt x="648176" y="650677"/>
                  <a:pt x="666274" y="650677"/>
                  <a:pt x="677347" y="639485"/>
                </a:cubicBezTo>
                <a:cubicBezTo>
                  <a:pt x="688419" y="628293"/>
                  <a:pt x="688538" y="610195"/>
                  <a:pt x="677347" y="599123"/>
                </a:cubicBezTo>
                <a:lnTo>
                  <a:pt x="562570" y="484346"/>
                </a:lnTo>
                <a:cubicBezTo>
                  <a:pt x="565785" y="481489"/>
                  <a:pt x="569000" y="478631"/>
                  <a:pt x="572095" y="475774"/>
                </a:cubicBezTo>
                <a:cubicBezTo>
                  <a:pt x="627817" y="423982"/>
                  <a:pt x="665083" y="362188"/>
                  <a:pt x="682823" y="319683"/>
                </a:cubicBezTo>
                <a:cubicBezTo>
                  <a:pt x="686753" y="310277"/>
                  <a:pt x="686753" y="299799"/>
                  <a:pt x="682823" y="290393"/>
                </a:cubicBezTo>
                <a:cubicBezTo>
                  <a:pt x="665083" y="247888"/>
                  <a:pt x="627817" y="185976"/>
                  <a:pt x="572095" y="134303"/>
                </a:cubicBezTo>
                <a:cubicBezTo>
                  <a:pt x="516017" y="82272"/>
                  <a:pt x="438983" y="38338"/>
                  <a:pt x="342781" y="38338"/>
                </a:cubicBezTo>
                <a:cubicBezTo>
                  <a:pt x="275153" y="38338"/>
                  <a:pt x="217051" y="60008"/>
                  <a:pt x="168950" y="90964"/>
                </a:cubicBezTo>
                <a:lnTo>
                  <a:pt x="48816" y="-29647"/>
                </a:lnTo>
                <a:close/>
                <a:moveTo>
                  <a:pt x="243483" y="165140"/>
                </a:moveTo>
                <a:cubicBezTo>
                  <a:pt x="271463" y="145137"/>
                  <a:pt x="305872" y="133350"/>
                  <a:pt x="342900" y="133350"/>
                </a:cubicBezTo>
                <a:cubicBezTo>
                  <a:pt x="437555" y="133350"/>
                  <a:pt x="514350" y="210145"/>
                  <a:pt x="514350" y="304800"/>
                </a:cubicBezTo>
                <a:cubicBezTo>
                  <a:pt x="514350" y="341828"/>
                  <a:pt x="502563" y="376118"/>
                  <a:pt x="482560" y="404217"/>
                </a:cubicBezTo>
                <a:lnTo>
                  <a:pt x="441246" y="362903"/>
                </a:lnTo>
                <a:cubicBezTo>
                  <a:pt x="456367" y="337423"/>
                  <a:pt x="461486" y="306110"/>
                  <a:pt x="453271" y="275153"/>
                </a:cubicBezTo>
                <a:cubicBezTo>
                  <a:pt x="436959" y="214193"/>
                  <a:pt x="374213" y="177998"/>
                  <a:pt x="313253" y="194310"/>
                </a:cubicBezTo>
                <a:cubicBezTo>
                  <a:pt x="303014" y="197048"/>
                  <a:pt x="293370" y="201097"/>
                  <a:pt x="284678" y="206216"/>
                </a:cubicBezTo>
                <a:lnTo>
                  <a:pt x="243364" y="164902"/>
                </a:lnTo>
                <a:close/>
                <a:moveTo>
                  <a:pt x="387310" y="470416"/>
                </a:moveTo>
                <a:cubicBezTo>
                  <a:pt x="373142" y="474226"/>
                  <a:pt x="358259" y="476250"/>
                  <a:pt x="342900" y="476250"/>
                </a:cubicBezTo>
                <a:cubicBezTo>
                  <a:pt x="248245" y="476250"/>
                  <a:pt x="171450" y="399455"/>
                  <a:pt x="171450" y="304800"/>
                </a:cubicBezTo>
                <a:cubicBezTo>
                  <a:pt x="171450" y="289441"/>
                  <a:pt x="173474" y="274558"/>
                  <a:pt x="177284" y="260390"/>
                </a:cubicBezTo>
                <a:lnTo>
                  <a:pt x="82629" y="165735"/>
                </a:lnTo>
                <a:cubicBezTo>
                  <a:pt x="43815" y="209550"/>
                  <a:pt x="17145" y="255984"/>
                  <a:pt x="2977" y="290155"/>
                </a:cubicBezTo>
                <a:cubicBezTo>
                  <a:pt x="-952" y="299561"/>
                  <a:pt x="-952" y="310039"/>
                  <a:pt x="2977" y="319445"/>
                </a:cubicBezTo>
                <a:cubicBezTo>
                  <a:pt x="20717" y="361950"/>
                  <a:pt x="57983" y="423863"/>
                  <a:pt x="113705" y="475536"/>
                </a:cubicBezTo>
                <a:cubicBezTo>
                  <a:pt x="169783" y="527566"/>
                  <a:pt x="246817" y="571500"/>
                  <a:pt x="343019" y="571500"/>
                </a:cubicBezTo>
                <a:cubicBezTo>
                  <a:pt x="387429" y="571500"/>
                  <a:pt x="427792" y="562094"/>
                  <a:pt x="463868" y="546973"/>
                </a:cubicBezTo>
                <a:lnTo>
                  <a:pt x="387429" y="470535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69400" y="4762500"/>
            <a:ext cx="6045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Asymmetry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69400" y="5397500"/>
            <a:ext cx="604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Homeowners lack knowledge to assess fault severity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distinguish </a:t>
            </a: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vs major faults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 rely on technician judgment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6154400" y="3683000"/>
            <a:ext cx="6858000" cy="4191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560800" y="4000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560800" y="4762500"/>
            <a:ext cx="60452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Systemic Quality Issues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560800" y="5397500"/>
            <a:ext cx="604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1,359 complaints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about repair services in 2024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45%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involved electrical appliances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20%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consumers had contractor disputes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71600" y="8255000"/>
            <a:ext cx="21640800" cy="3429000"/>
          </a:xfrm>
          <a:prstGeom prst="roundRect">
            <a:avLst>
              <a:gd name="adj" fmla="val 5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78000" y="8445500"/>
            <a:ext cx="2082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STATISTICS DRIVING THE NEED FOR </a:t>
            </a: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UncleFix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78000" y="9207500"/>
            <a:ext cx="482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HK$460-850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10160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Avg. Inspection Fee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12000" y="9207500"/>
            <a:ext cx="482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70,000t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2000" y="10160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E-waste in HK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9207500"/>
            <a:ext cx="482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1,359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446000" y="10160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Repair Complaints (2024)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780000" y="9207500"/>
            <a:ext cx="482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16%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780000" y="10160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Municipal Solid Waste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LITERATURE: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FOR HOME MAINTENANCE</a:t>
            </a:r>
            <a:endParaRPr lang="en-US" sz="7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556000"/>
          <a:ext cx="21640800" cy="6350000"/>
        </p:xfrm>
        <a:graphic>
          <a:graphicData uri="http://schemas.openxmlformats.org/drawingml/2006/table">
            <a:tbl>
              <a:tblPr/>
              <a:tblGrid>
                <a:gridCol w="4760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Relevance to UncleFix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Vision-Language Models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Diagnostics-LLaVA (Kumar et al., 2024) — domain-specific VLM for equipment image interpretation, fault diagnostics, and repair recommendations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 technology for photo-based appliance identification and fault detection in the Fix screen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Multimodal Generative AI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Bedrock (Claude 3) — processes images, PDFs, videos, audio via multimodal RAG for predictive maintenance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Reference architecture for multimodal input processing and retrieval-augmented generation pipeline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RAG Frameworks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Elasticsearch-based RAG — ingests appliance manuals, performs semantic search, synthesizes context-aware answers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Directly applicable to the knowledge base retrieval and grounded answer generation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Consumer Tools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iFixit FixBot — CV-based device identification + 125,000+ repair guides; HomeCare Manager &amp; HomeKeep apps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Validates consumer demand; no unified app exists integrating diagnostics + RAG + safety + lifecycle management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1371600" y="10287000"/>
            <a:ext cx="21640800" cy="1524000"/>
          </a:xfrm>
          <a:prstGeom prst="roundRect">
            <a:avLst>
              <a:gd name="adj" fmla="val 5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78000" y="10477500"/>
            <a:ext cx="208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unified consumer mobile application currently integrates fault diagnostics, RAG-grounded repair guidance, safety classification, and appliance lifecycle management into a single safety-conscious system tailored for household use.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674600" y="0"/>
            <a:ext cx="0" cy="1371600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44600" y="2794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4064000"/>
            <a:ext cx="1079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</a:t>
            </a: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OVERVIEW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1244600" y="7620000"/>
            <a:ext cx="1079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motivation, aims, objectives, and application scope for the UncleFix mobile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MOTIVATION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556000"/>
            <a:ext cx="10439400" cy="3937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1000" y="3746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94000" y="3746500"/>
            <a:ext cx="863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Issues, Major Costs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51000" y="4635500"/>
            <a:ext cx="990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common household problems — leaking taps, clogged drains, tripped breakers, appliance error codes — are minor and can often be resolved through basic troubleshooting with clear instructions.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573000" y="3556000"/>
            <a:ext cx="10439400" cy="3937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52400" y="3746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95400" y="3746500"/>
            <a:ext cx="863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Technician Dependence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852400" y="4635500"/>
            <a:ext cx="990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Lack of technical understanding creates strong dependence on external technicians, exposing consumers to inflated quotations, unnecessary repairs, and limited pricing transparency.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8001000"/>
            <a:ext cx="10439400" cy="3937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51000" y="8191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94000" y="8191500"/>
            <a:ext cx="863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Fragmented Information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51000" y="9080500"/>
            <a:ext cx="990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Appliance manuals, warranty records, and maintenance histories are dispersed across physical and digital formats, written in technical language not easily understood by non-experts.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573000" y="8001000"/>
            <a:ext cx="10439400" cy="3937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52400" y="8191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95400" y="8191500"/>
            <a:ext cx="863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as a Solution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852400" y="9080500"/>
            <a:ext cx="990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Recent advances in VLMs enable image-based fault identification, while RAG frameworks ensure responses are grounded in authoritative sources, improving accuracy and trustworthiness.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AIMS &amp;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OBJECTIVES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556000"/>
            <a:ext cx="104394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1000" y="3619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94000" y="3619500"/>
            <a:ext cx="876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VLM Diagnostic Pipeline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appliance identification and visual fault/error-code extraction from user-submitted photos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573000" y="3556000"/>
            <a:ext cx="104394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52400" y="3619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95400" y="3619500"/>
            <a:ext cx="876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RAG Framework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a curated HK-specific knowledge base of manufacturer manuals and EMSD/GovHK regulatory guidance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5461000"/>
            <a:ext cx="104394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51000" y="552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4000" y="5524500"/>
            <a:ext cx="876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Guardrail &amp; Severity Classification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(Low / Medium / High) with hard-coded disclaimers and referral protocols for high-risk scenarios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573000" y="5461000"/>
            <a:ext cx="104394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52400" y="5524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95400" y="5524500"/>
            <a:ext cx="8763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Asset Management Module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appliance registration, warranty tracking, and rule-based maintenance scheduling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7366000"/>
            <a:ext cx="21640800" cy="1524000"/>
          </a:xfrm>
          <a:prstGeom prst="roundRect">
            <a:avLst>
              <a:gd name="adj" fmla="val 5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51000" y="7429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94000" y="7493000"/>
            <a:ext cx="1993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Evaluation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structured benchmarks covering retrieval precision, LLM faithfulness, and VLM diagnostic accuracy across the complete UncleFix pipeline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9398000"/>
            <a:ext cx="21640800" cy="2540000"/>
          </a:xfrm>
          <a:prstGeom prst="roundRect">
            <a:avLst>
              <a:gd name="adj" fmla="val 5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78000" y="9588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AIM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10160000"/>
            <a:ext cx="2082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design and implement a multimodal AI-powered mobile application for household diagnostics, grounded repair guidance, and appliance maintenance management — reducing information asymmetry and promoting sustainable practices among HK homeowners.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222500" y="1714500"/>
            <a:ext cx="382716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UncleFix: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 OVERVIEW &amp; SCOPE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556000"/>
          <a:ext cx="21640800" cy="6604000"/>
        </p:xfrm>
        <a:graphic>
          <a:graphicData uri="http://schemas.openxmlformats.org/drawingml/2006/table">
            <a:tbl>
              <a:tblPr/>
              <a:tblGrid>
                <a:gridCol w="541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44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 Definition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339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In-Scope Tasks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Minor interior household issues within safe self-assessment scope: kitchen/laundry appliance faults (washing machines, refrigerators, microwaves), minor plumbing (leaking taps, clogged drains), basic electrical resets (tripped circuit breakers)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339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Out-of-Scope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Structural repairs, major plumbing overhauls, gas-line configurations, building-wide infrastructural issues. For hazardous or legally regulated interventions, the app acts as a hazard-warning and referral mechanism 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339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Outputs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 every diagnostic request: (1) likely fault cause and category; (2) estimated fixing time and deterministic safety risk rating (Low / Moderate / High); (3) list of tools and materials required; (4) recommended course of action with safety notes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339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Localization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RAG knowledge base exclusively curated from HK-specific sources: EMSD technical guidance, Consumer Council appliance data, GovHK household advisories, and manufacturer user manuals uploaded by users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371600" y="10541000"/>
            <a:ext cx="21640800" cy="1397000"/>
          </a:xfrm>
          <a:prstGeom prst="roundRect">
            <a:avLst>
              <a:gd name="adj" fmla="val 5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01800" y="108585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81000" y="19050"/>
                </a:moveTo>
                <a:cubicBezTo>
                  <a:pt x="449341" y="19050"/>
                  <a:pt x="504825" y="74534"/>
                  <a:pt x="504825" y="142875"/>
                </a:cubicBezTo>
                <a:cubicBezTo>
                  <a:pt x="504825" y="211216"/>
                  <a:pt x="449341" y="266700"/>
                  <a:pt x="381000" y="266700"/>
                </a:cubicBezTo>
                <a:cubicBezTo>
                  <a:pt x="312659" y="266700"/>
                  <a:pt x="257175" y="211216"/>
                  <a:pt x="257175" y="142875"/>
                </a:cubicBezTo>
                <a:cubicBezTo>
                  <a:pt x="257175" y="74534"/>
                  <a:pt x="312659" y="19050"/>
                  <a:pt x="381000" y="19050"/>
                </a:cubicBezTo>
                <a:close/>
                <a:moveTo>
                  <a:pt x="114300" y="104775"/>
                </a:moveTo>
                <a:cubicBezTo>
                  <a:pt x="161613" y="104775"/>
                  <a:pt x="200025" y="143187"/>
                  <a:pt x="200025" y="190500"/>
                </a:cubicBezTo>
                <a:cubicBezTo>
                  <a:pt x="200025" y="237813"/>
                  <a:pt x="161613" y="276225"/>
                  <a:pt x="114300" y="276225"/>
                </a:cubicBezTo>
                <a:cubicBezTo>
                  <a:pt x="66987" y="276225"/>
                  <a:pt x="28575" y="237813"/>
                  <a:pt x="28575" y="190500"/>
                </a:cubicBezTo>
                <a:cubicBezTo>
                  <a:pt x="28575" y="143187"/>
                  <a:pt x="66987" y="104775"/>
                  <a:pt x="114300" y="104775"/>
                </a:cubicBezTo>
                <a:close/>
                <a:moveTo>
                  <a:pt x="0" y="495300"/>
                </a:moveTo>
                <a:cubicBezTo>
                  <a:pt x="0" y="411123"/>
                  <a:pt x="68223" y="342900"/>
                  <a:pt x="152400" y="342900"/>
                </a:cubicBezTo>
                <a:cubicBezTo>
                  <a:pt x="167640" y="342900"/>
                  <a:pt x="182404" y="345162"/>
                  <a:pt x="196334" y="349329"/>
                </a:cubicBezTo>
                <a:cubicBezTo>
                  <a:pt x="157163" y="393144"/>
                  <a:pt x="133350" y="451009"/>
                  <a:pt x="133350" y="514350"/>
                </a:cubicBezTo>
                <a:lnTo>
                  <a:pt x="133350" y="533400"/>
                </a:lnTo>
                <a:cubicBezTo>
                  <a:pt x="133350" y="546973"/>
                  <a:pt x="136208" y="559832"/>
                  <a:pt x="141327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620673" y="571500"/>
                </a:moveTo>
                <a:cubicBezTo>
                  <a:pt x="625793" y="559832"/>
                  <a:pt x="628650" y="546973"/>
                  <a:pt x="628650" y="533400"/>
                </a:cubicBezTo>
                <a:lnTo>
                  <a:pt x="628650" y="514350"/>
                </a:lnTo>
                <a:cubicBezTo>
                  <a:pt x="628650" y="451009"/>
                  <a:pt x="604837" y="393144"/>
                  <a:pt x="565666" y="349329"/>
                </a:cubicBezTo>
                <a:cubicBezTo>
                  <a:pt x="579596" y="345162"/>
                  <a:pt x="594360" y="342900"/>
                  <a:pt x="609600" y="342900"/>
                </a:cubicBezTo>
                <a:cubicBezTo>
                  <a:pt x="693777" y="342900"/>
                  <a:pt x="762000" y="411123"/>
                  <a:pt x="762000" y="495300"/>
                </a:cubicBezTo>
                <a:lnTo>
                  <a:pt x="762000" y="533400"/>
                </a:lnTo>
                <a:cubicBezTo>
                  <a:pt x="762000" y="554474"/>
                  <a:pt x="744974" y="571500"/>
                  <a:pt x="723900" y="571500"/>
                </a:cubicBezTo>
                <a:lnTo>
                  <a:pt x="620673" y="571500"/>
                </a:lnTo>
                <a:close/>
                <a:moveTo>
                  <a:pt x="561975" y="190500"/>
                </a:moveTo>
                <a:cubicBezTo>
                  <a:pt x="561975" y="143187"/>
                  <a:pt x="600387" y="104775"/>
                  <a:pt x="647700" y="104775"/>
                </a:cubicBezTo>
                <a:cubicBezTo>
                  <a:pt x="695013" y="104775"/>
                  <a:pt x="733425" y="143187"/>
                  <a:pt x="733425" y="190500"/>
                </a:cubicBezTo>
                <a:cubicBezTo>
                  <a:pt x="733425" y="237813"/>
                  <a:pt x="695013" y="276225"/>
                  <a:pt x="647700" y="276225"/>
                </a:cubicBezTo>
                <a:cubicBezTo>
                  <a:pt x="600387" y="276225"/>
                  <a:pt x="561975" y="237813"/>
                  <a:pt x="561975" y="190500"/>
                </a:cubicBezTo>
                <a:close/>
                <a:moveTo>
                  <a:pt x="190500" y="514350"/>
                </a:moveTo>
                <a:cubicBezTo>
                  <a:pt x="190500" y="409099"/>
                  <a:pt x="275749" y="323850"/>
                  <a:pt x="381000" y="323850"/>
                </a:cubicBezTo>
                <a:cubicBezTo>
                  <a:pt x="486251" y="323850"/>
                  <a:pt x="571500" y="409099"/>
                  <a:pt x="571500" y="514350"/>
                </a:cubicBezTo>
                <a:lnTo>
                  <a:pt x="571500" y="533400"/>
                </a:lnTo>
                <a:cubicBezTo>
                  <a:pt x="571500" y="554474"/>
                  <a:pt x="554474" y="571500"/>
                  <a:pt x="533400" y="571500"/>
                </a:cubicBezTo>
                <a:lnTo>
                  <a:pt x="228600" y="571500"/>
                </a:lnTo>
                <a:cubicBezTo>
                  <a:pt x="207526" y="571500"/>
                  <a:pt x="190500" y="554474"/>
                  <a:pt x="190500" y="533400"/>
                </a:cubicBezTo>
                <a:lnTo>
                  <a:pt x="190500" y="51435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67000" y="10731500"/>
            <a:ext cx="200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Audience:</a:t>
            </a: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Hong Kong residents who lack technical expertise in household damages, defects, and appliance repair, seeking reliable AI-powered guidance to diagnose issues and make informed maintenance decisions.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5" name="Shape 7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674600" y="0"/>
            <a:ext cx="0" cy="1371600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44600" y="2794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4064000"/>
            <a:ext cx="1079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</a:t>
            </a: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ARCHITECTURE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1244600" y="7620000"/>
            <a:ext cx="1079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Four-layer modular architecture: iOS frontend, FastAPI backend, AI/retrieval layer, and data storage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ARCHITECTURE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OVERVIEW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556000"/>
            <a:ext cx="5080000" cy="1778000"/>
          </a:xfrm>
          <a:prstGeom prst="roundRect">
            <a:avLst>
              <a:gd name="adj" fmla="val 8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25600" y="3683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25600" y="4254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Presentation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SwiftUI, iOS 17+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11600" y="5334000"/>
            <a:ext cx="0" cy="508000"/>
          </a:xfrm>
          <a:prstGeom prst="straightConnector1">
            <a:avLst/>
          </a:prstGeom>
          <a:noFill/>
          <a:ln w="25400">
            <a:solidFill>
              <a:srgbClr val="4361E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1600" y="5842000"/>
            <a:ext cx="5080000" cy="1778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25600" y="5969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25600" y="6540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FastAPI, Python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11600" y="7620000"/>
            <a:ext cx="0" cy="508000"/>
          </a:xfrm>
          <a:prstGeom prst="straightConnector1">
            <a:avLst/>
          </a:prstGeom>
          <a:noFill/>
          <a:ln w="25400">
            <a:solidFill>
              <a:srgbClr val="4361E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8128000"/>
            <a:ext cx="5080000" cy="1778000"/>
          </a:xfrm>
          <a:prstGeom prst="roundRect">
            <a:avLst>
              <a:gd name="adj" fmla="val 8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25600" y="8255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25600" y="8826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&amp; Retrieval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VLM + RAG + LLM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11600" y="9906000"/>
            <a:ext cx="0" cy="508000"/>
          </a:xfrm>
          <a:prstGeom prst="straightConnector1">
            <a:avLst/>
          </a:prstGeom>
          <a:noFill/>
          <a:ln w="25400">
            <a:solidFill>
              <a:srgbClr val="4361E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10414000"/>
            <a:ext cx="5080000" cy="1778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25600" y="10541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LAYER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25600" y="11112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Storage Layer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+ FAISS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6000" y="4488328"/>
            <a:ext cx="15646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2: </a:t>
            </a:r>
            <a:r>
              <a:rPr lang="en-US" sz="32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FastAPI Backend Orchestration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366000" y="5250328"/>
            <a:ext cx="15646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Per-request authentication (shared-secret middleware; JWT planned)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Business-logic coordination between VLM, RAG retriever, severity classifier, and answering LLM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Maintenance-scheduling and reminder trigger logic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logging, latency/cost accounting, and health probes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66000" y="7683500"/>
            <a:ext cx="15646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3: </a:t>
            </a:r>
            <a:r>
              <a:rPr lang="en-US" sz="32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Components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366000" y="8445500"/>
            <a:ext cx="15646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VLM API: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Appliance ID, error code extraction (Moonshot Kimi K2.6)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RAG Pipeline: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Vector DB (FAISS), semantic retrieval of manual segments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Safety Guardrail: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Low / Medium / High risk classification (deterministic)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LLM Generation: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Structured output — fault cause + risk rating + action plan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66000" y="10668000"/>
            <a:ext cx="15646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4: </a:t>
            </a:r>
            <a:r>
              <a:rPr lang="en-US" sz="32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Storage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366000" y="11366500"/>
            <a:ext cx="1564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 for user data, appliance registry, warranty records | FAISS for vector search | Amazon S3 for persistence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BBB06DFF-A6D0-ADD7-6003-4D3763963922}"/>
              </a:ext>
            </a:extLst>
          </p:cNvPr>
          <p:cNvSpPr/>
          <p:nvPr/>
        </p:nvSpPr>
        <p:spPr>
          <a:xfrm>
            <a:off x="7366000" y="3613277"/>
            <a:ext cx="15646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1: </a:t>
            </a:r>
            <a:r>
              <a:rPr lang="en-US" sz="32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iOS Presentation Layer</a:t>
            </a:r>
            <a:endParaRPr lang="en-US" sz="3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iOS FRONTEND: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FIVE CORE SCREENS</a:t>
            </a:r>
            <a:endParaRPr lang="en-US" sz="7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556000"/>
          <a:ext cx="21640800" cy="5080001"/>
        </p:xfrm>
        <a:graphic>
          <a:graphicData uri="http://schemas.openxmlformats.org/drawingml/2006/table">
            <a:tbl>
              <a:tblPr/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9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426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Screen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Functionality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Features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Home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 navigation hub with one-tap access to all core screens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Persistent safety disclaimer: "If something feels unsafe, call a professional!"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Fix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AI-powered diagnostic interface for fault identification and repair guidance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Photo upload + issue description; structured result with severity, guidance, disclaimer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 asset management for device registration and tracking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Warranty tracking, manual upload (PDF/TEXT), color-coded warranty indicator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History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Chronological record of past maintenance activities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AI-generated repair recommendations with full diagnostic history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Reminders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Manage scheduled maintenance with push notifications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3-step task creation: select appliance → task type → recurrence and notification time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71600" y="9017000"/>
            <a:ext cx="21640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Native iOS </a:t>
            </a:r>
            <a:r>
              <a:rPr lang="en-US" sz="32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Frameworks</a:t>
            </a: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Used</a:t>
            </a:r>
            <a:endParaRPr lang="en-US" sz="3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9842500"/>
          <a:ext cx="21640800" cy="2159000"/>
        </p:xfrm>
        <a:graphic>
          <a:graphicData uri="http://schemas.openxmlformats.org/drawingml/2006/table">
            <a:tbl>
              <a:tblPr/>
              <a:tblGrid>
                <a:gridCol w="4328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AVFoundation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URLSession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Keychain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UserNotifications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Camera access and image capture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On-device image preprocessing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HTTPS data transmission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Secure JWT token storage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Push notification scheduling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BACKEND &amp;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PIPELINE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556000"/>
            <a:ext cx="10439400" cy="4191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1000" y="3746500"/>
            <a:ext cx="990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VLM Layer</a:t>
            </a:r>
            <a:r>
              <a:rPr lang="en-US" sz="3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Moonshot Kimi K2.6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51000" y="4445000"/>
            <a:ext cx="990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Entity recognition: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Detects appliance type, brand, and model number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feature extraction: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Transcribes error codes, identifies damage indicators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JSON-schema structured output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typed fields and abstention when uncertain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Routed via </a:t>
            </a: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OpenRouter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aggregator for API access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3000" y="3556000"/>
            <a:ext cx="10439400" cy="4191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52400" y="3746500"/>
            <a:ext cx="990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RAG Stack</a:t>
            </a:r>
            <a:r>
              <a:rPr lang="en-US" sz="3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Hybrid Retrieval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852400" y="4445000"/>
            <a:ext cx="990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1,339 chunks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</a:t>
            </a: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82 documents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curated corpus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FAISS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vector storage with exact cosine-similarity search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Hybrid retrieval:</a:t>
            </a: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Dense vector + BM25 keyword matching via Reciprocal Rank Fusion</a:t>
            </a:r>
            <a:endParaRPr lang="en-US" sz="2400" dirty="0"/>
          </a:p>
          <a:p>
            <a:pPr marL="381000" indent="-381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Brand-matching chunks receive soft score boost (+0.1)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8128000"/>
            <a:ext cx="21640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</a:t>
            </a:r>
            <a:r>
              <a:rPr lang="en-US" sz="32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Routing Modes</a:t>
            </a:r>
            <a:r>
              <a:rPr lang="en-US" sz="32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Production: Agentic (Mode C)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8890000"/>
          <a:ext cx="21640800" cy="3047999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689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462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Pure RAG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Corpus retrieval only, no web fallback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462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Hybrid + Web Fallback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Dense + BM25 with deterministic threshold-based web search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462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Agentic (Production)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 decides per query which tools to invoke — corpus, web, or parametric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462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Parametric-Only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LLM's training knowledge only, no retrieval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462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Web-Only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Live web search only, no corpus retrieval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12" name="Shape 11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SAFETY GUARDRAIL &amp;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KNOWLEDGE BASE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3810000"/>
            <a:ext cx="2164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4-Signal Deterministic Safety </a:t>
            </a:r>
            <a:r>
              <a:rPr lang="en-US" sz="28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Severity Classification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445000"/>
          <a:ext cx="21640800" cy="29210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Risk Level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Response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Clogged filters, cosmetic replacements, basic resets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Step-by-step DIY guidance generated with standard safety notes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98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Minor plumbing resets, external component assembly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Conditional DIY guidance with enhanced safety reminders and PPE recommendations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443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electrical wiring, gas-line issues, sealed refrigerant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High-risk banner prepended; immediate professional referral protocol activated; no DIY guidance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371600" y="7620000"/>
            <a:ext cx="21640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Localized </a:t>
            </a:r>
            <a:r>
              <a:rPr lang="en-US" sz="2800" dirty="0">
                <a:solidFill>
                  <a:srgbClr val="4361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 Base</a:t>
            </a:r>
            <a:r>
              <a:rPr lang="en-US" sz="28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Sources</a:t>
            </a:r>
            <a:endParaRPr lang="en-US" sz="36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8255000"/>
          <a:ext cx="21640800" cy="3683000"/>
        </p:xfrm>
        <a:graphic>
          <a:graphicData uri="http://schemas.openxmlformats.org/drawingml/2006/table">
            <a:tbl>
              <a:tblPr/>
              <a:tblGrid>
                <a:gridCol w="605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1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Source Category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Specific Sources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HK Government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Buildings Department (drainage, water seepage, window safety), Joint FEHD &amp; Buildings Department (DIY water seepage testing)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Consumer Council (HK)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Appliance maintenance, usage tips, safety guidance, energy-saving advice, appliance reliability data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Overseas References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Australian Government YourHome — comprehensive government-endorsed DIY maintenance guidance applicable to general household repair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Manufacturer Docs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Official manuals for washing machines, refrigerators, air conditioners, TVs, vacuum cleaners from major brands + user-uploaded manuals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112903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674600" y="0"/>
            <a:ext cx="0" cy="1371600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44600" y="2794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4064000"/>
            <a:ext cx="1079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RESULTS &amp;</a:t>
            </a:r>
            <a:r>
              <a:rPr lang="en-US" sz="10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PROGRESS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1244600" y="7620000"/>
            <a:ext cx="1079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Preliminary evaluation results, frontend prototype validation, and remaining project schedule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FRONTEND PROTOTYPE: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UI/UX VALIDATION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556000"/>
            <a:ext cx="6858000" cy="2413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51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49500" y="3746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Safety-First Design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51000" y="4445000"/>
            <a:ext cx="6324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Persistent safety disclaimer on Home screen builds trust and sets user expectations before any diagnostic interaction begins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763000" y="3556000"/>
            <a:ext cx="6858000" cy="2413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424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40900" y="3746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Card-Based Navigation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042400" y="4445000"/>
            <a:ext cx="632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One-tap access to all core features, optimized for single-handed use with minimal navigation depth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6154400" y="3556000"/>
            <a:ext cx="6858000" cy="2413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338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79375"/>
                </a:moveTo>
                <a:cubicBezTo>
                  <a:pt x="0" y="53082"/>
                  <a:pt x="21332" y="31750"/>
                  <a:pt x="47625" y="31750"/>
                </a:cubicBezTo>
                <a:lnTo>
                  <a:pt x="142875" y="31750"/>
                </a:lnTo>
                <a:cubicBezTo>
                  <a:pt x="169168" y="31750"/>
                  <a:pt x="190500" y="53082"/>
                  <a:pt x="190500" y="79375"/>
                </a:cubicBezTo>
                <a:lnTo>
                  <a:pt x="190500" y="95250"/>
                </a:lnTo>
                <a:lnTo>
                  <a:pt x="317500" y="95250"/>
                </a:lnTo>
                <a:lnTo>
                  <a:pt x="317500" y="79375"/>
                </a:lnTo>
                <a:cubicBezTo>
                  <a:pt x="317500" y="53082"/>
                  <a:pt x="338832" y="31750"/>
                  <a:pt x="365125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174625"/>
                </a:lnTo>
                <a:cubicBezTo>
                  <a:pt x="508000" y="200918"/>
                  <a:pt x="486668" y="222250"/>
                  <a:pt x="460375" y="222250"/>
                </a:cubicBezTo>
                <a:lnTo>
                  <a:pt x="365125" y="222250"/>
                </a:lnTo>
                <a:cubicBezTo>
                  <a:pt x="338832" y="222250"/>
                  <a:pt x="317500" y="200918"/>
                  <a:pt x="317500" y="174625"/>
                </a:cubicBezTo>
                <a:lnTo>
                  <a:pt x="317500" y="158750"/>
                </a:lnTo>
                <a:lnTo>
                  <a:pt x="190500" y="158750"/>
                </a:lnTo>
                <a:lnTo>
                  <a:pt x="190500" y="174625"/>
                </a:lnTo>
                <a:cubicBezTo>
                  <a:pt x="190500" y="181868"/>
                  <a:pt x="188813" y="188813"/>
                  <a:pt x="185936" y="194965"/>
                </a:cubicBezTo>
                <a:lnTo>
                  <a:pt x="254000" y="285750"/>
                </a:lnTo>
                <a:lnTo>
                  <a:pt x="333375" y="285750"/>
                </a:lnTo>
                <a:cubicBezTo>
                  <a:pt x="359668" y="285750"/>
                  <a:pt x="381000" y="307082"/>
                  <a:pt x="381000" y="333375"/>
                </a:cubicBezTo>
                <a:lnTo>
                  <a:pt x="381000" y="428625"/>
                </a:lnTo>
                <a:cubicBezTo>
                  <a:pt x="381000" y="454918"/>
                  <a:pt x="359668" y="476250"/>
                  <a:pt x="333375" y="476250"/>
                </a:cubicBezTo>
                <a:lnTo>
                  <a:pt x="238125" y="476250"/>
                </a:lnTo>
                <a:cubicBezTo>
                  <a:pt x="211832" y="476250"/>
                  <a:pt x="190500" y="454918"/>
                  <a:pt x="190500" y="428625"/>
                </a:cubicBezTo>
                <a:lnTo>
                  <a:pt x="190500" y="333375"/>
                </a:lnTo>
                <a:cubicBezTo>
                  <a:pt x="190500" y="326132"/>
                  <a:pt x="192187" y="319187"/>
                  <a:pt x="195064" y="313035"/>
                </a:cubicBezTo>
                <a:lnTo>
                  <a:pt x="127000" y="222250"/>
                </a:lnTo>
                <a:lnTo>
                  <a:pt x="47625" y="222250"/>
                </a:lnTo>
                <a:cubicBezTo>
                  <a:pt x="21332" y="222250"/>
                  <a:pt x="0" y="200918"/>
                  <a:pt x="0" y="174625"/>
                </a:cubicBezTo>
                <a:lnTo>
                  <a:pt x="0" y="79375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132300" y="3746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Flow Separation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433800" y="4445000"/>
            <a:ext cx="6324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Clear separation between diagnostic flow (Fix) and management flows reduces cognitive load for non-technical users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71600" y="6350000"/>
            <a:ext cx="6858000" cy="2413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51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2755" y="36016"/>
                </a:moveTo>
                <a:cubicBezTo>
                  <a:pt x="143570" y="43557"/>
                  <a:pt x="146149" y="58440"/>
                  <a:pt x="138609" y="69155"/>
                </a:cubicBezTo>
                <a:lnTo>
                  <a:pt x="83046" y="148530"/>
                </a:lnTo>
                <a:cubicBezTo>
                  <a:pt x="78978" y="154285"/>
                  <a:pt x="72628" y="157956"/>
                  <a:pt x="65584" y="158552"/>
                </a:cubicBezTo>
                <a:cubicBezTo>
                  <a:pt x="58539" y="159147"/>
                  <a:pt x="51594" y="156766"/>
                  <a:pt x="46633" y="151805"/>
                </a:cubicBezTo>
                <a:lnTo>
                  <a:pt x="6945" y="112117"/>
                </a:lnTo>
                <a:cubicBezTo>
                  <a:pt x="-2282" y="102791"/>
                  <a:pt x="-2282" y="87709"/>
                  <a:pt x="6945" y="78383"/>
                </a:cubicBezTo>
                <a:cubicBezTo>
                  <a:pt x="16173" y="69056"/>
                  <a:pt x="31353" y="69155"/>
                  <a:pt x="40680" y="78383"/>
                </a:cubicBezTo>
                <a:lnTo>
                  <a:pt x="60325" y="98028"/>
                </a:lnTo>
                <a:lnTo>
                  <a:pt x="99616" y="41870"/>
                </a:lnTo>
                <a:cubicBezTo>
                  <a:pt x="107156" y="31055"/>
                  <a:pt x="122039" y="28476"/>
                  <a:pt x="132755" y="36016"/>
                </a:cubicBezTo>
                <a:close/>
                <a:moveTo>
                  <a:pt x="132755" y="194766"/>
                </a:moveTo>
                <a:cubicBezTo>
                  <a:pt x="143570" y="202307"/>
                  <a:pt x="146149" y="217190"/>
                  <a:pt x="138609" y="227905"/>
                </a:cubicBezTo>
                <a:lnTo>
                  <a:pt x="83046" y="307280"/>
                </a:lnTo>
                <a:cubicBezTo>
                  <a:pt x="78978" y="313035"/>
                  <a:pt x="72628" y="316706"/>
                  <a:pt x="65584" y="317302"/>
                </a:cubicBezTo>
                <a:cubicBezTo>
                  <a:pt x="58539" y="317897"/>
                  <a:pt x="51594" y="315516"/>
                  <a:pt x="46633" y="310555"/>
                </a:cubicBezTo>
                <a:lnTo>
                  <a:pt x="6945" y="270867"/>
                </a:lnTo>
                <a:cubicBezTo>
                  <a:pt x="-2381" y="261541"/>
                  <a:pt x="-2381" y="246459"/>
                  <a:pt x="6945" y="237232"/>
                </a:cubicBezTo>
                <a:cubicBezTo>
                  <a:pt x="16272" y="228005"/>
                  <a:pt x="31353" y="227905"/>
                  <a:pt x="40580" y="237232"/>
                </a:cubicBezTo>
                <a:lnTo>
                  <a:pt x="60226" y="256877"/>
                </a:lnTo>
                <a:lnTo>
                  <a:pt x="99516" y="200720"/>
                </a:lnTo>
                <a:cubicBezTo>
                  <a:pt x="107057" y="189905"/>
                  <a:pt x="121940" y="187325"/>
                  <a:pt x="132655" y="194866"/>
                </a:cubicBezTo>
                <a:close/>
                <a:moveTo>
                  <a:pt x="222250" y="95250"/>
                </a:moveTo>
                <a:cubicBezTo>
                  <a:pt x="222250" y="77688"/>
                  <a:pt x="236438" y="63500"/>
                  <a:pt x="254000" y="63500"/>
                </a:cubicBezTo>
                <a:lnTo>
                  <a:pt x="476250" y="63500"/>
                </a:lnTo>
                <a:cubicBezTo>
                  <a:pt x="493812" y="63500"/>
                  <a:pt x="508000" y="77688"/>
                  <a:pt x="508000" y="95250"/>
                </a:cubicBezTo>
                <a:cubicBezTo>
                  <a:pt x="508000" y="112812"/>
                  <a:pt x="493812" y="127000"/>
                  <a:pt x="476250" y="127000"/>
                </a:cubicBezTo>
                <a:lnTo>
                  <a:pt x="254000" y="127000"/>
                </a:lnTo>
                <a:cubicBezTo>
                  <a:pt x="236438" y="127000"/>
                  <a:pt x="222250" y="112812"/>
                  <a:pt x="222250" y="95250"/>
                </a:cubicBezTo>
                <a:close/>
                <a:moveTo>
                  <a:pt x="222250" y="254000"/>
                </a:moveTo>
                <a:cubicBezTo>
                  <a:pt x="222250" y="236438"/>
                  <a:pt x="236438" y="222250"/>
                  <a:pt x="254000" y="222250"/>
                </a:cubicBezTo>
                <a:lnTo>
                  <a:pt x="476250" y="222250"/>
                </a:lnTo>
                <a:cubicBezTo>
                  <a:pt x="493812" y="222250"/>
                  <a:pt x="508000" y="236438"/>
                  <a:pt x="508000" y="254000"/>
                </a:cubicBezTo>
                <a:cubicBezTo>
                  <a:pt x="508000" y="271562"/>
                  <a:pt x="493812" y="285750"/>
                  <a:pt x="476250" y="285750"/>
                </a:cubicBezTo>
                <a:lnTo>
                  <a:pt x="254000" y="285750"/>
                </a:lnTo>
                <a:cubicBezTo>
                  <a:pt x="236438" y="285750"/>
                  <a:pt x="222250" y="271562"/>
                  <a:pt x="222250" y="254000"/>
                </a:cubicBezTo>
                <a:close/>
                <a:moveTo>
                  <a:pt x="158750" y="412750"/>
                </a:moveTo>
                <a:cubicBezTo>
                  <a:pt x="158750" y="395188"/>
                  <a:pt x="172938" y="381000"/>
                  <a:pt x="190500" y="381000"/>
                </a:cubicBezTo>
                <a:lnTo>
                  <a:pt x="476250" y="381000"/>
                </a:lnTo>
                <a:cubicBezTo>
                  <a:pt x="493812" y="381000"/>
                  <a:pt x="508000" y="395188"/>
                  <a:pt x="508000" y="412750"/>
                </a:cubicBezTo>
                <a:cubicBezTo>
                  <a:pt x="508000" y="430312"/>
                  <a:pt x="493812" y="444500"/>
                  <a:pt x="476250" y="444500"/>
                </a:cubicBezTo>
                <a:lnTo>
                  <a:pt x="190500" y="444500"/>
                </a:lnTo>
                <a:cubicBezTo>
                  <a:pt x="172938" y="444500"/>
                  <a:pt x="158750" y="430312"/>
                  <a:pt x="158750" y="412750"/>
                </a:cubicBezTo>
                <a:close/>
                <a:moveTo>
                  <a:pt x="63500" y="373063"/>
                </a:moveTo>
                <a:cubicBezTo>
                  <a:pt x="85404" y="373063"/>
                  <a:pt x="103188" y="390846"/>
                  <a:pt x="103188" y="412750"/>
                </a:cubicBezTo>
                <a:cubicBezTo>
                  <a:pt x="103188" y="434654"/>
                  <a:pt x="85404" y="452437"/>
                  <a:pt x="63500" y="452437"/>
                </a:cubicBezTo>
                <a:cubicBezTo>
                  <a:pt x="41596" y="452437"/>
                  <a:pt x="23813" y="434654"/>
                  <a:pt x="23812" y="412750"/>
                </a:cubicBezTo>
                <a:cubicBezTo>
                  <a:pt x="23812" y="390846"/>
                  <a:pt x="41596" y="373063"/>
                  <a:pt x="63500" y="373063"/>
                </a:cubicBez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49500" y="6540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Structured Results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51000" y="7239000"/>
            <a:ext cx="632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3-component diagnostic display: severity rating + step-by-step guidance + contextual safety disclaimer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763000" y="6350000"/>
            <a:ext cx="6858000" cy="2413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74150" y="660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27000" y="0"/>
                </a:moveTo>
                <a:cubicBezTo>
                  <a:pt x="144562" y="0"/>
                  <a:pt x="158750" y="14188"/>
                  <a:pt x="158750" y="31750"/>
                </a:cubicBezTo>
                <a:lnTo>
                  <a:pt x="158750" y="63500"/>
                </a:lnTo>
                <a:lnTo>
                  <a:pt x="285750" y="63500"/>
                </a:lnTo>
                <a:lnTo>
                  <a:pt x="285750" y="31750"/>
                </a:lnTo>
                <a:cubicBezTo>
                  <a:pt x="285750" y="14188"/>
                  <a:pt x="299938" y="0"/>
                  <a:pt x="317500" y="0"/>
                </a:cubicBezTo>
                <a:cubicBezTo>
                  <a:pt x="335062" y="0"/>
                  <a:pt x="349250" y="14188"/>
                  <a:pt x="349250" y="31750"/>
                </a:cubicBezTo>
                <a:lnTo>
                  <a:pt x="349250" y="63500"/>
                </a:lnTo>
                <a:lnTo>
                  <a:pt x="381000" y="63500"/>
                </a:lnTo>
                <a:cubicBezTo>
                  <a:pt x="416024" y="63500"/>
                  <a:pt x="444500" y="91976"/>
                  <a:pt x="444500" y="12700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127000"/>
                </a:lnTo>
                <a:cubicBezTo>
                  <a:pt x="0" y="91976"/>
                  <a:pt x="28476" y="63500"/>
                  <a:pt x="63500" y="63500"/>
                </a:cubicBezTo>
                <a:lnTo>
                  <a:pt x="95250" y="63500"/>
                </a:lnTo>
                <a:lnTo>
                  <a:pt x="95250" y="31750"/>
                </a:lnTo>
                <a:cubicBezTo>
                  <a:pt x="95250" y="14188"/>
                  <a:pt x="109438" y="0"/>
                  <a:pt x="127000" y="0"/>
                </a:cubicBezTo>
                <a:close/>
                <a:moveTo>
                  <a:pt x="305991" y="226913"/>
                </a:moveTo>
                <a:cubicBezTo>
                  <a:pt x="312936" y="215801"/>
                  <a:pt x="309562" y="201116"/>
                  <a:pt x="298450" y="194072"/>
                </a:cubicBezTo>
                <a:cubicBezTo>
                  <a:pt x="287337" y="187027"/>
                  <a:pt x="272653" y="190500"/>
                  <a:pt x="265609" y="201613"/>
                </a:cubicBezTo>
                <a:lnTo>
                  <a:pt x="204688" y="299145"/>
                </a:lnTo>
                <a:lnTo>
                  <a:pt x="177899" y="263426"/>
                </a:lnTo>
                <a:cubicBezTo>
                  <a:pt x="169962" y="252909"/>
                  <a:pt x="155079" y="250726"/>
                  <a:pt x="144562" y="258663"/>
                </a:cubicBezTo>
                <a:cubicBezTo>
                  <a:pt x="134045" y="266601"/>
                  <a:pt x="131862" y="281484"/>
                  <a:pt x="139799" y="292001"/>
                </a:cubicBezTo>
                <a:lnTo>
                  <a:pt x="187424" y="355501"/>
                </a:lnTo>
                <a:cubicBezTo>
                  <a:pt x="192087" y="361752"/>
                  <a:pt x="199628" y="365323"/>
                  <a:pt x="207466" y="365026"/>
                </a:cubicBezTo>
                <a:cubicBezTo>
                  <a:pt x="215305" y="364728"/>
                  <a:pt x="222448" y="360561"/>
                  <a:pt x="226616" y="353814"/>
                </a:cubicBezTo>
                <a:lnTo>
                  <a:pt x="305991" y="226814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40900" y="6540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Warranty Tracking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42400" y="7239000"/>
            <a:ext cx="632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Color-coded warranty indicator alerts users before expiry, enabling timely action on repair costs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6154400" y="6350000"/>
            <a:ext cx="6858000" cy="2413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402050" y="6604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58750" y="0"/>
                </a:moveTo>
                <a:cubicBezTo>
                  <a:pt x="176312" y="0"/>
                  <a:pt x="190500" y="14188"/>
                  <a:pt x="190500" y="31750"/>
                </a:cubicBezTo>
                <a:lnTo>
                  <a:pt x="190500" y="63500"/>
                </a:lnTo>
                <a:lnTo>
                  <a:pt x="317500" y="63500"/>
                </a:lnTo>
                <a:cubicBezTo>
                  <a:pt x="335062" y="63500"/>
                  <a:pt x="349250" y="77688"/>
                  <a:pt x="349250" y="95250"/>
                </a:cubicBezTo>
                <a:cubicBezTo>
                  <a:pt x="349250" y="112812"/>
                  <a:pt x="335062" y="127000"/>
                  <a:pt x="317500" y="127000"/>
                </a:cubicBezTo>
                <a:lnTo>
                  <a:pt x="307975" y="127000"/>
                </a:lnTo>
                <a:lnTo>
                  <a:pt x="299641" y="149920"/>
                </a:lnTo>
                <a:cubicBezTo>
                  <a:pt x="283369" y="194766"/>
                  <a:pt x="258862" y="235744"/>
                  <a:pt x="228005" y="270966"/>
                </a:cubicBezTo>
                <a:cubicBezTo>
                  <a:pt x="242094" y="279698"/>
                  <a:pt x="256778" y="287437"/>
                  <a:pt x="272058" y="294283"/>
                </a:cubicBezTo>
                <a:lnTo>
                  <a:pt x="322064" y="316508"/>
                </a:lnTo>
                <a:lnTo>
                  <a:pt x="383778" y="177602"/>
                </a:lnTo>
                <a:cubicBezTo>
                  <a:pt x="388838" y="166092"/>
                  <a:pt x="400248" y="158750"/>
                  <a:pt x="412750" y="158750"/>
                </a:cubicBezTo>
                <a:cubicBezTo>
                  <a:pt x="425252" y="158750"/>
                  <a:pt x="436662" y="166092"/>
                  <a:pt x="441722" y="177602"/>
                </a:cubicBezTo>
                <a:lnTo>
                  <a:pt x="568722" y="463352"/>
                </a:lnTo>
                <a:cubicBezTo>
                  <a:pt x="575866" y="479425"/>
                  <a:pt x="568623" y="498177"/>
                  <a:pt x="552648" y="505222"/>
                </a:cubicBezTo>
                <a:cubicBezTo>
                  <a:pt x="536674" y="512266"/>
                  <a:pt x="517823" y="505123"/>
                  <a:pt x="510778" y="489148"/>
                </a:cubicBezTo>
                <a:lnTo>
                  <a:pt x="490934" y="444500"/>
                </a:lnTo>
                <a:lnTo>
                  <a:pt x="334665" y="444500"/>
                </a:lnTo>
                <a:lnTo>
                  <a:pt x="314821" y="489148"/>
                </a:lnTo>
                <a:cubicBezTo>
                  <a:pt x="307677" y="505222"/>
                  <a:pt x="288925" y="512366"/>
                  <a:pt x="272951" y="505222"/>
                </a:cubicBezTo>
                <a:cubicBezTo>
                  <a:pt x="256977" y="498078"/>
                  <a:pt x="249734" y="479326"/>
                  <a:pt x="256877" y="463352"/>
                </a:cubicBezTo>
                <a:lnTo>
                  <a:pt x="296366" y="374551"/>
                </a:lnTo>
                <a:lnTo>
                  <a:pt x="246360" y="352326"/>
                </a:lnTo>
                <a:cubicBezTo>
                  <a:pt x="223540" y="342205"/>
                  <a:pt x="201712" y="330101"/>
                  <a:pt x="181074" y="316210"/>
                </a:cubicBezTo>
                <a:cubicBezTo>
                  <a:pt x="159941" y="333276"/>
                  <a:pt x="136823" y="348159"/>
                  <a:pt x="112117" y="360561"/>
                </a:cubicBezTo>
                <a:lnTo>
                  <a:pt x="77688" y="377627"/>
                </a:lnTo>
                <a:cubicBezTo>
                  <a:pt x="62012" y="385465"/>
                  <a:pt x="42962" y="379115"/>
                  <a:pt x="35123" y="363438"/>
                </a:cubicBezTo>
                <a:cubicBezTo>
                  <a:pt x="27285" y="347762"/>
                  <a:pt x="33635" y="328712"/>
                  <a:pt x="49312" y="320873"/>
                </a:cubicBezTo>
                <a:lnTo>
                  <a:pt x="83542" y="303709"/>
                </a:lnTo>
                <a:cubicBezTo>
                  <a:pt x="99715" y="295573"/>
                  <a:pt x="115094" y="286147"/>
                  <a:pt x="129580" y="275630"/>
                </a:cubicBezTo>
                <a:cubicBezTo>
                  <a:pt x="115888" y="263029"/>
                  <a:pt x="102989" y="249436"/>
                  <a:pt x="90984" y="235049"/>
                </a:cubicBezTo>
                <a:lnTo>
                  <a:pt x="80962" y="222945"/>
                </a:lnTo>
                <a:cubicBezTo>
                  <a:pt x="69751" y="209451"/>
                  <a:pt x="71537" y="189409"/>
                  <a:pt x="85030" y="178197"/>
                </a:cubicBezTo>
                <a:cubicBezTo>
                  <a:pt x="98524" y="166985"/>
                  <a:pt x="118566" y="168771"/>
                  <a:pt x="129778" y="182265"/>
                </a:cubicBezTo>
                <a:lnTo>
                  <a:pt x="139898" y="194370"/>
                </a:lnTo>
                <a:cubicBezTo>
                  <a:pt x="151309" y="208161"/>
                  <a:pt x="163810" y="220960"/>
                  <a:pt x="177006" y="232767"/>
                </a:cubicBezTo>
                <a:cubicBezTo>
                  <a:pt x="204291" y="202605"/>
                  <a:pt x="225822" y="167184"/>
                  <a:pt x="240010" y="128191"/>
                </a:cubicBezTo>
                <a:lnTo>
                  <a:pt x="240506" y="127000"/>
                </a:lnTo>
                <a:lnTo>
                  <a:pt x="31849" y="127000"/>
                </a:lnTo>
                <a:cubicBezTo>
                  <a:pt x="14188" y="127000"/>
                  <a:pt x="0" y="112812"/>
                  <a:pt x="0" y="95250"/>
                </a:cubicBezTo>
                <a:cubicBezTo>
                  <a:pt x="0" y="77688"/>
                  <a:pt x="14188" y="63500"/>
                  <a:pt x="31750" y="63500"/>
                </a:cubicBezTo>
                <a:lnTo>
                  <a:pt x="127000" y="63500"/>
                </a:lnTo>
                <a:lnTo>
                  <a:pt x="127000" y="31750"/>
                </a:lnTo>
                <a:cubicBezTo>
                  <a:pt x="127000" y="14188"/>
                  <a:pt x="141188" y="0"/>
                  <a:pt x="158750" y="0"/>
                </a:cubicBezTo>
                <a:close/>
                <a:moveTo>
                  <a:pt x="412750" y="268684"/>
                </a:moveTo>
                <a:lnTo>
                  <a:pt x="362843" y="381000"/>
                </a:lnTo>
                <a:lnTo>
                  <a:pt x="462657" y="381000"/>
                </a:lnTo>
                <a:lnTo>
                  <a:pt x="412750" y="268684"/>
                </a:lnTo>
                <a:close/>
              </a:path>
            </a:pathLst>
          </a:cu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132300" y="6540500"/>
            <a:ext cx="5651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Bilingual Support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6433800" y="7239000"/>
            <a:ext cx="6324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English and Traditional Chinese across all five screens for Hong Kong's linguistically diverse population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371600" y="9271000"/>
            <a:ext cx="21640800" cy="266700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78000" y="9461500"/>
            <a:ext cx="2082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PROTOTYPE STATUS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78000" y="10096500"/>
            <a:ext cx="2082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SwiftUI prototype implements all five primary screens with full navigation flow, demonstrating a coherent end-to-end user journey bridging reactive diagnosis, proactive asset management, and scheduled maintenance within a unified tab-based structure. The Safety-First design philosophy is consistently expressed at the UI layer without compromising usability.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BACKEND EVALUATION: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KEY FINDINGS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810000"/>
            <a:ext cx="21640800" cy="889000"/>
          </a:xfrm>
          <a:prstGeom prst="roundRect">
            <a:avLst>
              <a:gd name="adj" fmla="val 4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78000" y="3873500"/>
            <a:ext cx="2082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880-cell evaluation</a:t>
            </a:r>
            <a:r>
              <a:rPr lang="en-US" sz="2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22 golden test cases × 5 retrieval modes × 8 frontier LLMs across 6 families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953000"/>
            <a:ext cx="6858000" cy="3429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51000" y="5080000"/>
            <a:ext cx="6299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FINDING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5715000"/>
            <a:ext cx="629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Agentic routing wins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51000" y="6350000"/>
            <a:ext cx="62992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LLM decides per query whether to use corpus, web, or parametric knowledge — outperforming deterministic fallback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Δ +0.366, p = 0.003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763000" y="4953000"/>
            <a:ext cx="6858000" cy="3429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42400" y="5080000"/>
            <a:ext cx="6299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FINDING 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42400" y="5715000"/>
            <a:ext cx="629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Agentic uses corpus when it should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42400" y="6350000"/>
            <a:ext cx="6299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 queries with matching corpus content, agentic mode reliably recognizes and uses corpus answers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Δ +0.306, p = 0.038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6154400" y="4953000"/>
            <a:ext cx="6858000" cy="342900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433800" y="5080000"/>
            <a:ext cx="6299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FINDING 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33800" y="5715000"/>
            <a:ext cx="629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Parametric beats pure RAG on long-tail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433800" y="6350000"/>
            <a:ext cx="6299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corpus is silent, frontier model training knowledge outperforms short web snippets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0000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Δ -0.324, p = 0.006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71600" y="8636000"/>
            <a:ext cx="10439400" cy="3302000"/>
          </a:xfrm>
          <a:prstGeom prst="roundRect">
            <a:avLst>
              <a:gd name="adj" fmla="val 5000"/>
            </a:avLst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51000" y="8826500"/>
            <a:ext cx="990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PRODUCTION CONFIG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9398000"/>
            <a:ext cx="990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Agentic Mode × Kimi K2.6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Safety score: </a:t>
            </a: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4.88 /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per-query cost among top-3: </a:t>
            </a: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~$0.02/query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model serves as both VLM and answering LLM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573000" y="8636000"/>
            <a:ext cx="10439400" cy="3302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852400" y="8826500"/>
            <a:ext cx="990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6510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LATENCY GAP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52400" y="9398000"/>
            <a:ext cx="990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mean latency: </a:t>
            </a:r>
            <a:r>
              <a:rPr lang="en-US" sz="22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30.8s</a:t>
            </a: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(p99: 45s)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</a:t>
            </a:r>
            <a:r>
              <a:rPr lang="en-US" sz="22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 AWS Bedrock migration + streaming endpoint + answer cache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Scheduled for Phase 4 (Jun 2026)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371600" y="138430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2338050"/>
            <a:ext cx="216408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93800" y="2667000"/>
            <a:ext cx="2184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F1B3D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PROJECT STATUS &amp; </a:t>
            </a: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SCHEDULE</a:t>
            </a:r>
            <a:endParaRPr lang="en-US" sz="7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556000"/>
          <a:ext cx="21640800" cy="8382000"/>
        </p:xfrm>
        <a:graphic>
          <a:graphicData uri="http://schemas.openxmlformats.org/drawingml/2006/table">
            <a:tbl>
              <a:tblPr/>
              <a:tblGrid>
                <a:gridCol w="389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9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5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054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Tasks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Period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 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collection, knowledge base construction, project webpage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 20 – Apr 13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Progress 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progress update presentation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Apr 14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 2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pipeline evaluation, multimodal RAG orchestrator, FastAPI deployment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Apr 15 – May 4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Progress 2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Second progress update presentation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5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 3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iOS frontend development, backend integration, interim report prep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6 – May 31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4CAF5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Interim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Interim report submission and presentation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Jun 1, 2026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98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 Progress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 4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Bedrock migration, PostgreSQL integration, safety guardrail refinement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Jun 2 – Jun 16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196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 5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Functional testing (60+ scenarios), usability testing (10-15 users)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Jun 17 – Jul 6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196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 6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Documentation, demo video, project webpage, final dissertation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Jul 7 – Jul 17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196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119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Final report submission and oral examination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000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Jul 17 – Late Jul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196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22500" y="1714500"/>
            <a:ext cx="2540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Uncle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kern="0" spc="-120" dirty="0">
                <a:solidFill>
                  <a:srgbClr val="0F1B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371600" y="1816100"/>
            <a:ext cx="666623" cy="666623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40200" y="3314700"/>
            <a:ext cx="16103600" cy="0"/>
          </a:xfrm>
          <a:prstGeom prst="straightConnector1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97200" y="3873500"/>
            <a:ext cx="183896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0" y="7620000"/>
            <a:ext cx="16154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UncleFix — Empowering Hong Kong Homeowners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AI-Driven Maintenance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40200" y="9398000"/>
            <a:ext cx="16103600" cy="0"/>
          </a:xfrm>
          <a:prstGeom prst="straightConnector1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0" y="9906000"/>
            <a:ext cx="161544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2078</Words>
  <Application>Microsoft Office PowerPoint</Application>
  <PresentationFormat>Custom</PresentationFormat>
  <Paragraphs>357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Coda</vt:lpstr>
      <vt:lpstr>Quattrocento Sans</vt:lpstr>
      <vt:lpstr>QuattrocentoSans</vt:lpstr>
      <vt:lpstr>Arial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UncleFix - Interim Report</dc:title>
  <dc:subject>UncleFix - Interim Report</dc:subject>
  <dc:creator>Kimi</dc:creator>
  <cp:lastModifiedBy>KWAN KAI YIN Kenneth</cp:lastModifiedBy>
  <cp:revision>1</cp:revision>
  <dcterms:created xsi:type="dcterms:W3CDTF">2026-06-02T02:35:04Z</dcterms:created>
  <dcterms:modified xsi:type="dcterms:W3CDTF">2026-06-17T11:30:19Z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{"Label":"UncleFix - Interim Report","ContentProducer":"001191110108MACG2KBH8F10000","ProduceID":"19e83ecb-eee2-8112-8000-000079c43de0","ReservedCode1":"","ContentPropagator":"001191110108MACG2KBH8F20000","PropagateID":"19e83ecb-eee2-8112-8000-000079c43de0","ReservedCode2":""}</vt:lpwstr>
  </property>
</Properties>
</file>